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0" r:id="rId11"/>
    <p:sldId id="266"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0E8C75-52A1-8FAE-C6C6-BEF618AC9376}" v="804" dt="2025-11-05T07:18:18.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74" d="100"/>
          <a:sy n="74" d="100"/>
        </p:scale>
        <p:origin x="22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kumimoji="1" lang="ja-JP" altLang="en-US" smtClean="0"/>
              <a:t>2025/11/5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a:ea typeface="ＭＳ Ｐゴシック"/>
              </a:rPr>
              <a:t>C班中間報告</a:t>
            </a:r>
            <a:br>
              <a:rPr lang="ja-JP" altLang="en-US" dirty="0">
                <a:ea typeface="ＭＳ Ｐゴシック"/>
              </a:rPr>
            </a:br>
            <a:endParaRPr lang="ja-JP" altLang="en-US" dirty="0">
              <a:ea typeface="ＭＳ Ｐゴシック"/>
            </a:endParaRPr>
          </a:p>
        </p:txBody>
      </p:sp>
      <p:sp>
        <p:nvSpPr>
          <p:cNvPr id="3" name="サブタイトル 2"/>
          <p:cNvSpPr>
            <a:spLocks noGrp="1"/>
          </p:cNvSpPr>
          <p:nvPr>
            <p:ph type="subTitle" idx="1"/>
          </p:nvPr>
        </p:nvSpPr>
        <p:spPr/>
        <p:txBody>
          <a:bodyPr vert="horz" lIns="91440" tIns="45720" rIns="91440" bIns="45720" rtlCol="0" anchor="t">
            <a:normAutofit/>
          </a:bodyPr>
          <a:lstStyle/>
          <a:p>
            <a:r>
              <a:rPr lang="ja-JP" altLang="en-US">
                <a:ea typeface="ＭＳ Ｐゴシック"/>
              </a:rPr>
              <a:t>T24B242K　國井太貴</a:t>
            </a:r>
          </a:p>
          <a:p>
            <a:r>
              <a:rPr lang="ja-JP" altLang="en-US">
                <a:ea typeface="ＭＳ Ｐゴシック"/>
              </a:rPr>
              <a:t>T24B202A　阿部隼也</a:t>
            </a:r>
          </a:p>
          <a:p>
            <a:r>
              <a:rPr lang="ja-JP" altLang="en-US">
                <a:ea typeface="ＭＳ Ｐゴシック"/>
              </a:rPr>
              <a:t>T24B304C　中川和哉</a:t>
            </a:r>
            <a:endParaRPr lang="ja-JP" altLang="en-US" dirty="0">
              <a:ea typeface="ＭＳ Ｐゴシック"/>
            </a:endParaRPr>
          </a:p>
        </p:txBody>
      </p: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DF9F51-54FF-80F2-1983-870E92E98885}"/>
              </a:ext>
            </a:extLst>
          </p:cNvPr>
          <p:cNvSpPr>
            <a:spLocks noGrp="1"/>
          </p:cNvSpPr>
          <p:nvPr>
            <p:ph type="title"/>
          </p:nvPr>
        </p:nvSpPr>
        <p:spPr/>
        <p:txBody>
          <a:bodyPr/>
          <a:lstStyle/>
          <a:p>
            <a:r>
              <a:rPr lang="ja-JP" altLang="en-US">
                <a:ea typeface="ＭＳ Ｐゴシック"/>
              </a:rPr>
              <a:t>１.実習計画の復習</a:t>
            </a:r>
          </a:p>
        </p:txBody>
      </p:sp>
      <p:sp>
        <p:nvSpPr>
          <p:cNvPr id="3" name="コンテンツ プレースホルダー 2">
            <a:extLst>
              <a:ext uri="{FF2B5EF4-FFF2-40B4-BE49-F238E27FC236}">
                <a16:creationId xmlns:a16="http://schemas.microsoft.com/office/drawing/2014/main" id="{D7BCDB7A-DCEC-906D-E735-62AA60757712}"/>
              </a:ext>
            </a:extLst>
          </p:cNvPr>
          <p:cNvSpPr>
            <a:spLocks noGrp="1"/>
          </p:cNvSpPr>
          <p:nvPr>
            <p:ph idx="1"/>
          </p:nvPr>
        </p:nvSpPr>
        <p:spPr/>
        <p:txBody>
          <a:bodyPr vert="horz" lIns="91440" tIns="45720" rIns="91440" bIns="45720" rtlCol="0" anchor="t">
            <a:normAutofit/>
          </a:bodyPr>
          <a:lstStyle/>
          <a:p>
            <a:pPr marL="0" indent="0">
              <a:buNone/>
            </a:pPr>
            <a:r>
              <a:rPr lang="ja-JP" altLang="en-US">
                <a:ea typeface="ＭＳ Ｐゴシック"/>
              </a:rPr>
              <a:t>・大目標：世界中で運動不足で深刻化しているため、それを解消すること</a:t>
            </a:r>
          </a:p>
          <a:p>
            <a:pPr marL="0" indent="0">
              <a:buNone/>
            </a:pPr>
            <a:endParaRPr lang="ja-JP" altLang="en-US" dirty="0">
              <a:ea typeface="ＭＳ Ｐゴシック"/>
            </a:endParaRPr>
          </a:p>
          <a:p>
            <a:pPr marL="0" indent="0">
              <a:buNone/>
            </a:pPr>
            <a:r>
              <a:rPr lang="ja-JP" altLang="en-US">
                <a:ea typeface="ＭＳ Ｐゴシック"/>
              </a:rPr>
              <a:t>・小目標：子供世代の運動不足を解消するために、スマートフォンを利用したwebページを開発し、運動習慣を促す</a:t>
            </a:r>
            <a:endParaRPr lang="ja-JP" altLang="en-US" dirty="0">
              <a:ea typeface="ＭＳ Ｐゴシック"/>
            </a:endParaRPr>
          </a:p>
          <a:p>
            <a:pPr marL="0" indent="0">
              <a:buNone/>
            </a:pPr>
            <a:endParaRPr lang="ja-JP" altLang="en-US" dirty="0">
              <a:ea typeface="ＭＳ Ｐゴシック"/>
            </a:endParaRPr>
          </a:p>
          <a:p>
            <a:pPr marL="0" indent="0">
              <a:buNone/>
            </a:pPr>
            <a:r>
              <a:rPr lang="ja-JP" altLang="en-US">
                <a:ea typeface="ＭＳ Ｐゴシック"/>
              </a:rPr>
              <a:t>・見通し：javascriptで歩数計の作成</a:t>
            </a:r>
            <a:endParaRPr lang="ja-JP" altLang="en-US" dirty="0">
              <a:ea typeface="ＭＳ Ｐゴシック"/>
            </a:endParaRPr>
          </a:p>
          <a:p>
            <a:pPr marL="0" indent="0">
              <a:buNone/>
            </a:pPr>
            <a:r>
              <a:rPr lang="ja-JP" altLang="en-US">
                <a:ea typeface="ＭＳ Ｐゴシック"/>
              </a:rPr>
              <a:t>　　　　　　Ｈｔｍｌでwebページの作成</a:t>
            </a:r>
            <a:endParaRPr lang="ja-JP" altLang="en-US" dirty="0">
              <a:ea typeface="ＭＳ Ｐゴシック"/>
            </a:endParaRPr>
          </a:p>
          <a:p>
            <a:pPr marL="0" indent="0">
              <a:buNone/>
            </a:pPr>
            <a:r>
              <a:rPr lang="ja-JP" altLang="en-US">
                <a:ea typeface="ＭＳ Ｐゴシック"/>
              </a:rPr>
              <a:t>　　　　　　cssでwebページのデザインの作成</a:t>
            </a:r>
            <a:endParaRPr lang="ja-JP" altLang="en-US" dirty="0">
              <a:ea typeface="ＭＳ Ｐゴシック"/>
            </a:endParaRPr>
          </a:p>
          <a:p>
            <a:pPr marL="0" indent="0">
              <a:buNone/>
            </a:pPr>
            <a:endParaRPr lang="ja-JP" altLang="en-US" dirty="0">
              <a:ea typeface="ＭＳ Ｐゴシック"/>
            </a:endParaRPr>
          </a:p>
        </p:txBody>
      </p:sp>
    </p:spTree>
    <p:extLst>
      <p:ext uri="{BB962C8B-B14F-4D97-AF65-F5344CB8AC3E}">
        <p14:creationId xmlns:p14="http://schemas.microsoft.com/office/powerpoint/2010/main" val="2892443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B719C5-2263-911A-A5F6-F9FAC8BFB70F}"/>
              </a:ext>
            </a:extLst>
          </p:cNvPr>
          <p:cNvSpPr>
            <a:spLocks noGrp="1"/>
          </p:cNvSpPr>
          <p:nvPr>
            <p:ph type="title"/>
          </p:nvPr>
        </p:nvSpPr>
        <p:spPr/>
        <p:txBody>
          <a:bodyPr/>
          <a:lstStyle/>
          <a:p>
            <a:r>
              <a:rPr lang="ja-JP" altLang="en-US">
                <a:ea typeface="ＭＳ Ｐゴシック"/>
              </a:rPr>
              <a:t>ガントチャート</a:t>
            </a:r>
            <a:endParaRPr kumimoji="1" lang="ja-JP" altLang="en-US"/>
          </a:p>
        </p:txBody>
      </p:sp>
      <p:pic>
        <p:nvPicPr>
          <p:cNvPr id="4" name="コンテンツ プレースホルダー 3" descr="テーブル&#10;&#10;AI 生成コンテンツは間違っている可能性があります。">
            <a:extLst>
              <a:ext uri="{FF2B5EF4-FFF2-40B4-BE49-F238E27FC236}">
                <a16:creationId xmlns:a16="http://schemas.microsoft.com/office/drawing/2014/main" id="{443AA857-F15E-9A77-940E-5E8E877B8938}"/>
              </a:ext>
            </a:extLst>
          </p:cNvPr>
          <p:cNvPicPr>
            <a:picLocks noGrp="1" noChangeAspect="1"/>
          </p:cNvPicPr>
          <p:nvPr>
            <p:ph idx="1"/>
          </p:nvPr>
        </p:nvPicPr>
        <p:blipFill>
          <a:blip r:embed="rId2"/>
          <a:stretch>
            <a:fillRect/>
          </a:stretch>
        </p:blipFill>
        <p:spPr>
          <a:xfrm>
            <a:off x="833887" y="1561428"/>
            <a:ext cx="10524226" cy="4304638"/>
          </a:xfrm>
          <a:prstGeom prst="rect">
            <a:avLst/>
          </a:prstGeom>
        </p:spPr>
      </p:pic>
    </p:spTree>
    <p:extLst>
      <p:ext uri="{BB962C8B-B14F-4D97-AF65-F5344CB8AC3E}">
        <p14:creationId xmlns:p14="http://schemas.microsoft.com/office/powerpoint/2010/main" val="981403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C93293-73EB-F127-0A10-3A23E9316595}"/>
              </a:ext>
            </a:extLst>
          </p:cNvPr>
          <p:cNvSpPr>
            <a:spLocks noGrp="1"/>
          </p:cNvSpPr>
          <p:nvPr>
            <p:ph type="title"/>
          </p:nvPr>
        </p:nvSpPr>
        <p:spPr/>
        <p:txBody>
          <a:bodyPr/>
          <a:lstStyle/>
          <a:p>
            <a:r>
              <a:rPr lang="ja-JP" altLang="en-US">
                <a:ea typeface="ＭＳ Ｐゴシック"/>
              </a:rPr>
              <a:t>2.３.目標の変更と理由</a:t>
            </a:r>
            <a:endParaRPr kumimoji="1" lang="ja-JP" altLang="en-US"/>
          </a:p>
        </p:txBody>
      </p:sp>
      <p:sp>
        <p:nvSpPr>
          <p:cNvPr id="3" name="コンテンツ プレースホルダー 2">
            <a:extLst>
              <a:ext uri="{FF2B5EF4-FFF2-40B4-BE49-F238E27FC236}">
                <a16:creationId xmlns:a16="http://schemas.microsoft.com/office/drawing/2014/main" id="{19087E05-88B6-6FEE-8B46-64535733C2CB}"/>
              </a:ext>
            </a:extLst>
          </p:cNvPr>
          <p:cNvSpPr>
            <a:spLocks noGrp="1"/>
          </p:cNvSpPr>
          <p:nvPr>
            <p:ph idx="1"/>
          </p:nvPr>
        </p:nvSpPr>
        <p:spPr/>
        <p:txBody>
          <a:bodyPr vert="horz" lIns="91440" tIns="45720" rIns="91440" bIns="45720" rtlCol="0" anchor="t">
            <a:normAutofit/>
          </a:bodyPr>
          <a:lstStyle/>
          <a:p>
            <a:pPr marL="0" indent="0">
              <a:buNone/>
            </a:pPr>
            <a:r>
              <a:rPr lang="ja-JP" altLang="en-US">
                <a:ea typeface="ＭＳ Ｐゴシック"/>
              </a:rPr>
              <a:t>ミッション機能（javascript）とデザイン（ｃｓｓ）が想定していたよりも困難な物であった</a:t>
            </a:r>
          </a:p>
          <a:p>
            <a:pPr marL="0" indent="0">
              <a:buNone/>
            </a:pPr>
            <a:endParaRPr lang="ja-JP" altLang="en-US" dirty="0">
              <a:ea typeface="ＭＳ Ｐゴシック"/>
            </a:endParaRPr>
          </a:p>
          <a:p>
            <a:pPr marL="0" indent="0">
              <a:buNone/>
            </a:pPr>
            <a:r>
              <a:rPr lang="ja-JP" altLang="en-US">
                <a:ea typeface="ＭＳ Ｐゴシック"/>
              </a:rPr>
              <a:t>→　</a:t>
            </a:r>
            <a:r>
              <a:rPr lang="ja-JP">
                <a:ea typeface="ＭＳ Ｐゴシック"/>
              </a:rPr>
              <a:t>スコアとランキング機能の実装が時間的に厳しいものとなりそう</a:t>
            </a:r>
            <a:r>
              <a:rPr lang="ja-JP" altLang="en-US">
                <a:ea typeface="ＭＳ Ｐゴシック"/>
              </a:rPr>
              <a:t>なため、スコアとランキング機能にあてる時間をミッション機能とデザイン機能を作成する時間に変更</a:t>
            </a:r>
            <a:endParaRPr lang="ja-JP" altLang="en-US" dirty="0">
              <a:ea typeface="ＭＳ Ｐゴシック"/>
            </a:endParaRPr>
          </a:p>
        </p:txBody>
      </p:sp>
    </p:spTree>
    <p:extLst>
      <p:ext uri="{BB962C8B-B14F-4D97-AF65-F5344CB8AC3E}">
        <p14:creationId xmlns:p14="http://schemas.microsoft.com/office/powerpoint/2010/main" val="3177067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6B0CC9-B277-0223-FFB7-66E517093429}"/>
              </a:ext>
            </a:extLst>
          </p:cNvPr>
          <p:cNvSpPr>
            <a:spLocks noGrp="1"/>
          </p:cNvSpPr>
          <p:nvPr>
            <p:ph type="title"/>
          </p:nvPr>
        </p:nvSpPr>
        <p:spPr/>
        <p:txBody>
          <a:bodyPr/>
          <a:lstStyle/>
          <a:p>
            <a:r>
              <a:rPr lang="ja-JP" altLang="en-US">
                <a:ea typeface="ＭＳ Ｐゴシック"/>
              </a:rPr>
              <a:t>４．共同作業報告</a:t>
            </a:r>
            <a:endParaRPr lang="ja-JP" altLang="en-US" dirty="0">
              <a:ea typeface="ＭＳ Ｐゴシック"/>
            </a:endParaRPr>
          </a:p>
        </p:txBody>
      </p:sp>
      <p:sp>
        <p:nvSpPr>
          <p:cNvPr id="3" name="コンテンツ プレースホルダー 2">
            <a:extLst>
              <a:ext uri="{FF2B5EF4-FFF2-40B4-BE49-F238E27FC236}">
                <a16:creationId xmlns:a16="http://schemas.microsoft.com/office/drawing/2014/main" id="{03DCD133-C28F-C404-B923-80BAF01140E2}"/>
              </a:ext>
            </a:extLst>
          </p:cNvPr>
          <p:cNvSpPr>
            <a:spLocks noGrp="1"/>
          </p:cNvSpPr>
          <p:nvPr>
            <p:ph idx="1"/>
          </p:nvPr>
        </p:nvSpPr>
        <p:spPr/>
        <p:txBody>
          <a:bodyPr vert="horz" lIns="91440" tIns="45720" rIns="91440" bIns="45720" rtlCol="0" anchor="t">
            <a:normAutofit/>
          </a:bodyPr>
          <a:lstStyle/>
          <a:p>
            <a:r>
              <a:rPr lang="ja-JP" altLang="en-US">
                <a:ea typeface="ＭＳ Ｐゴシック"/>
              </a:rPr>
              <a:t>Visual Studio Codeを用いてHtml,css,Javascriptを作成している</a:t>
            </a:r>
            <a:endParaRPr lang="ja-JP" altLang="en-US">
              <a:ea typeface="ＭＳ Ｐゴシック" panose="020B0600070205080204" pitchFamily="34" charset="-128"/>
            </a:endParaRPr>
          </a:p>
          <a:p>
            <a:pPr marL="0" indent="0">
              <a:buNone/>
            </a:pPr>
            <a:r>
              <a:rPr lang="ja-JP" altLang="en-US">
                <a:ea typeface="ＭＳ Ｐゴシック"/>
              </a:rPr>
              <a:t>今までの役割分担</a:t>
            </a:r>
            <a:endParaRPr lang="ja-JP" altLang="en-US" dirty="0">
              <a:ea typeface="ＭＳ Ｐゴシック" panose="020B0600070205080204" pitchFamily="34" charset="-128"/>
            </a:endParaRPr>
          </a:p>
          <a:p>
            <a:r>
              <a:rPr lang="ja-JP" altLang="en-US">
                <a:ea typeface="ＭＳ Ｐゴシック"/>
              </a:rPr>
              <a:t>歩数計の作成（Javascript）：</a:t>
            </a:r>
            <a:r>
              <a:rPr lang="ja-JP" sz="2400">
                <a:ea typeface="ＭＳ Ｐゴシック"/>
              </a:rPr>
              <a:t>T24B304C</a:t>
            </a:r>
            <a:r>
              <a:rPr lang="ja-JP" altLang="en-US" sz="2400">
                <a:ea typeface="ＭＳ Ｐゴシック"/>
              </a:rPr>
              <a:t>　</a:t>
            </a:r>
            <a:r>
              <a:rPr lang="ja-JP" sz="2400">
                <a:ea typeface="ＭＳ Ｐゴシック"/>
              </a:rPr>
              <a:t>中川和哉</a:t>
            </a:r>
          </a:p>
          <a:p>
            <a:r>
              <a:rPr lang="ja-JP" altLang="en-US">
                <a:ea typeface="ＭＳ Ｐゴシック"/>
              </a:rPr>
              <a:t>デザインの作成(css)：</a:t>
            </a:r>
            <a:r>
              <a:rPr lang="ja-JP" sz="2400">
                <a:ea typeface="ＭＳ Ｐゴシック"/>
              </a:rPr>
              <a:t>T24B242K　國井太貴</a:t>
            </a:r>
          </a:p>
          <a:p>
            <a:r>
              <a:rPr lang="ja-JP" altLang="en-US">
                <a:ea typeface="ＭＳ Ｐゴシック"/>
              </a:rPr>
              <a:t>骨組みの作成(Html)：</a:t>
            </a:r>
            <a:r>
              <a:rPr lang="ja-JP" sz="2400">
                <a:ea typeface="ＭＳ Ｐゴシック"/>
              </a:rPr>
              <a:t>T24B202A　阿部隼也</a:t>
            </a:r>
          </a:p>
          <a:p>
            <a:pPr marL="0" indent="0">
              <a:buNone/>
            </a:pPr>
            <a:r>
              <a:rPr lang="ja-JP" altLang="en-US">
                <a:ea typeface="ＭＳ Ｐゴシック"/>
              </a:rPr>
              <a:t>今後の役割</a:t>
            </a:r>
          </a:p>
          <a:p>
            <a:pPr marL="0" indent="0">
              <a:buNone/>
            </a:pPr>
            <a:r>
              <a:rPr lang="ja-JP" altLang="en-US">
                <a:ea typeface="ＭＳ Ｐゴシック"/>
              </a:rPr>
              <a:t>・ミッションの作成：</a:t>
            </a:r>
            <a:r>
              <a:rPr lang="en-US" altLang="ja-JP" sz="2400" dirty="0">
                <a:ea typeface="ＭＳ Ｐゴシック"/>
              </a:rPr>
              <a:t>T24B304C</a:t>
            </a:r>
            <a:r>
              <a:rPr lang="ja-JP" altLang="en-US" sz="2400">
                <a:ea typeface="ＭＳ Ｐゴシック"/>
              </a:rPr>
              <a:t>　中川和哉</a:t>
            </a:r>
            <a:r>
              <a:rPr lang="en-US" altLang="ja-JP" sz="2400" dirty="0">
                <a:ea typeface="ＭＳ Ｐゴシック"/>
              </a:rPr>
              <a:t>,T24B202A</a:t>
            </a:r>
            <a:r>
              <a:rPr lang="ja-JP" altLang="en-US" sz="2400">
                <a:ea typeface="ＭＳ Ｐゴシック"/>
              </a:rPr>
              <a:t>　阿部隼也</a:t>
            </a:r>
            <a:endParaRPr lang="en-US" sz="2400">
              <a:ea typeface="ＭＳ Ｐゴシック"/>
            </a:endParaRPr>
          </a:p>
          <a:p>
            <a:pPr marL="0" indent="0">
              <a:buNone/>
            </a:pPr>
            <a:r>
              <a:rPr lang="ja-JP" altLang="en-US" sz="2400">
                <a:ea typeface="ＭＳ Ｐゴシック"/>
              </a:rPr>
              <a:t>・</a:t>
            </a:r>
            <a:r>
              <a:rPr lang="ja-JP" altLang="en-US">
                <a:ea typeface="ＭＳ Ｐゴシック"/>
              </a:rPr>
              <a:t>デザインの作成：</a:t>
            </a:r>
            <a:r>
              <a:rPr lang="ja-JP" sz="2400">
                <a:ea typeface="ＭＳ Ｐゴシック"/>
              </a:rPr>
              <a:t>T24B242K　國井太貴</a:t>
            </a:r>
            <a:endParaRPr lang="ja-JP" altLang="en-US" dirty="0">
              <a:ea typeface="ＭＳ Ｐゴシック"/>
            </a:endParaRPr>
          </a:p>
          <a:p>
            <a:pPr marL="0" indent="0">
              <a:buNone/>
            </a:pPr>
            <a:endParaRPr lang="en-US" altLang="ja-JP" sz="2400" dirty="0">
              <a:ea typeface="ＭＳ Ｐゴシック" panose="020B0600070205080204" pitchFamily="34" charset="-128"/>
            </a:endParaRPr>
          </a:p>
          <a:p>
            <a:pPr marL="0" indent="0">
              <a:buNone/>
            </a:pPr>
            <a:endParaRPr lang="ja-JP" altLang="en-US" dirty="0">
              <a:ea typeface="ＭＳ Ｐゴシック" panose="020B0600070205080204" pitchFamily="34" charset="-128"/>
            </a:endParaRPr>
          </a:p>
        </p:txBody>
      </p:sp>
    </p:spTree>
    <p:extLst>
      <p:ext uri="{BB962C8B-B14F-4D97-AF65-F5344CB8AC3E}">
        <p14:creationId xmlns:p14="http://schemas.microsoft.com/office/powerpoint/2010/main" val="123576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882A06-097E-DAEA-26C1-91AB9689667F}"/>
              </a:ext>
            </a:extLst>
          </p:cNvPr>
          <p:cNvSpPr>
            <a:spLocks noGrp="1"/>
          </p:cNvSpPr>
          <p:nvPr>
            <p:ph type="title"/>
          </p:nvPr>
        </p:nvSpPr>
        <p:spPr/>
        <p:txBody>
          <a:bodyPr/>
          <a:lstStyle/>
          <a:p>
            <a:r>
              <a:rPr lang="ja-JP" altLang="en-US">
                <a:ea typeface="ＭＳ Ｐゴシック"/>
              </a:rPr>
              <a:t>５．開発に使用しているコード</a:t>
            </a:r>
            <a:endParaRPr kumimoji="1" lang="ja-JP" altLang="en-US"/>
          </a:p>
        </p:txBody>
      </p:sp>
      <p:sp>
        <p:nvSpPr>
          <p:cNvPr id="3" name="コンテンツ プレースホルダー 2">
            <a:extLst>
              <a:ext uri="{FF2B5EF4-FFF2-40B4-BE49-F238E27FC236}">
                <a16:creationId xmlns:a16="http://schemas.microsoft.com/office/drawing/2014/main" id="{46099E80-2401-EB33-AF73-9D4AF526AEF8}"/>
              </a:ext>
            </a:extLst>
          </p:cNvPr>
          <p:cNvSpPr>
            <a:spLocks noGrp="1"/>
          </p:cNvSpPr>
          <p:nvPr>
            <p:ph idx="1"/>
          </p:nvPr>
        </p:nvSpPr>
        <p:spPr/>
        <p:txBody>
          <a:bodyPr vert="horz" lIns="91440" tIns="45720" rIns="91440" bIns="45720" rtlCol="0" anchor="t">
            <a:normAutofit/>
          </a:bodyPr>
          <a:lstStyle/>
          <a:p>
            <a:r>
              <a:rPr lang="ja-JP" altLang="en-US">
                <a:ea typeface="ＭＳ Ｐゴシック"/>
              </a:rPr>
              <a:t>Html：</a:t>
            </a:r>
          </a:p>
        </p:txBody>
      </p:sp>
    </p:spTree>
    <p:extLst>
      <p:ext uri="{BB962C8B-B14F-4D97-AF65-F5344CB8AC3E}">
        <p14:creationId xmlns:p14="http://schemas.microsoft.com/office/powerpoint/2010/main" val="1407331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A9FFB2-AF5B-974B-B181-16F02EFC7402}"/>
              </a:ext>
            </a:extLst>
          </p:cNvPr>
          <p:cNvSpPr>
            <a:spLocks noGrp="1"/>
          </p:cNvSpPr>
          <p:nvPr>
            <p:ph type="title"/>
          </p:nvPr>
        </p:nvSpPr>
        <p:spPr/>
        <p:txBody>
          <a:bodyPr/>
          <a:lstStyle/>
          <a:p>
            <a:r>
              <a:rPr lang="ja-JP" altLang="en-US">
                <a:ea typeface="ＭＳ Ｐゴシック"/>
              </a:rPr>
              <a:t>Javascript</a:t>
            </a:r>
            <a:endParaRPr lang="ja-JP" altLang="en-US" dirty="0">
              <a:ea typeface="ＭＳ Ｐゴシック"/>
            </a:endParaRPr>
          </a:p>
        </p:txBody>
      </p:sp>
      <p:sp>
        <p:nvSpPr>
          <p:cNvPr id="3" name="コンテンツ プレースホルダー 2">
            <a:extLst>
              <a:ext uri="{FF2B5EF4-FFF2-40B4-BE49-F238E27FC236}">
                <a16:creationId xmlns:a16="http://schemas.microsoft.com/office/drawing/2014/main" id="{FC3DAF52-3367-A53A-42CC-A540558C4E07}"/>
              </a:ext>
            </a:extLst>
          </p:cNvPr>
          <p:cNvSpPr>
            <a:spLocks noGrp="1"/>
          </p:cNvSpPr>
          <p:nvPr>
            <p:ph idx="1"/>
          </p:nvPr>
        </p:nvSpPr>
        <p:spPr/>
        <p:txBody>
          <a:bodyPr vert="horz" lIns="91440" tIns="45720" rIns="91440" bIns="45720" rtlCol="0" anchor="t">
            <a:normAutofit/>
          </a:bodyPr>
          <a:lstStyle/>
          <a:p>
            <a:r>
              <a:rPr lang="ja-JP" dirty="0">
                <a:solidFill>
                  <a:srgbClr val="222222"/>
                </a:solidFill>
                <a:latin typeface="Arial"/>
                <a:ea typeface="ＭＳ Ｐゴシック"/>
                <a:cs typeface="Arial"/>
              </a:rPr>
              <a:t> </a:t>
            </a:r>
            <a:r>
              <a:rPr lang="ja-JP">
                <a:solidFill>
                  <a:srgbClr val="222222"/>
                </a:solidFill>
                <a:latin typeface="Arial"/>
                <a:ea typeface="ＭＳ Ｐゴシック"/>
                <a:cs typeface="Arial"/>
              </a:rPr>
              <a:t>このコードは、「もしiPhoneなら、必ずユーザーに『使っていいですか？』と尋ねてから、センサーの利用を始める」という、プライバシーに配慮した処理を確実に実行するためのものです。 </a:t>
            </a:r>
            <a:endParaRPr kumimoji="1" lang="ja-JP" altLang="en-US">
              <a:ea typeface="ＭＳ Ｐゴシック"/>
            </a:endParaRPr>
          </a:p>
        </p:txBody>
      </p:sp>
    </p:spTree>
    <p:extLst>
      <p:ext uri="{BB962C8B-B14F-4D97-AF65-F5344CB8AC3E}">
        <p14:creationId xmlns:p14="http://schemas.microsoft.com/office/powerpoint/2010/main" val="20189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1B39D1-ECD8-396B-FDB4-35E885B96C5E}"/>
              </a:ext>
            </a:extLst>
          </p:cNvPr>
          <p:cNvSpPr>
            <a:spLocks noGrp="1"/>
          </p:cNvSpPr>
          <p:nvPr>
            <p:ph type="title"/>
          </p:nvPr>
        </p:nvSpPr>
        <p:spPr/>
        <p:txBody>
          <a:bodyPr/>
          <a:lstStyle/>
          <a:p>
            <a:r>
              <a:rPr lang="ja-JP" altLang="en-US">
                <a:ea typeface="ＭＳ Ｐゴシック"/>
              </a:rPr>
              <a:t>ｃss</a:t>
            </a:r>
            <a:endParaRPr kumimoji="1" lang="ja-JP" altLang="en-US"/>
          </a:p>
        </p:txBody>
      </p:sp>
      <p:sp>
        <p:nvSpPr>
          <p:cNvPr id="3" name="コンテンツ プレースホルダー 2">
            <a:extLst>
              <a:ext uri="{FF2B5EF4-FFF2-40B4-BE49-F238E27FC236}">
                <a16:creationId xmlns:a16="http://schemas.microsoft.com/office/drawing/2014/main" id="{0C09AB14-2198-573B-EC5B-26BD29C364F6}"/>
              </a:ext>
            </a:extLst>
          </p:cNvPr>
          <p:cNvSpPr>
            <a:spLocks noGrp="1"/>
          </p:cNvSpPr>
          <p:nvPr>
            <p:ph idx="1"/>
          </p:nvPr>
        </p:nvSpPr>
        <p:spPr/>
        <p:txBody>
          <a:bodyPr vert="horz" lIns="91440" tIns="45720" rIns="91440" bIns="45720" rtlCol="0" anchor="t">
            <a:normAutofit/>
          </a:bodyPr>
          <a:lstStyle/>
          <a:p>
            <a:pPr marL="0" indent="0">
              <a:buNone/>
            </a:pPr>
            <a:r>
              <a:rPr lang="ja-JP" altLang="en-US" sz="2000">
                <a:ea typeface="ＭＳ Ｐゴシック"/>
              </a:rPr>
              <a:t>・</a:t>
            </a:r>
            <a:r>
              <a:rPr lang="ja-JP" sz="2000">
                <a:ea typeface="ＭＳ Ｐゴシック"/>
              </a:rPr>
              <a:t>画面全体を薄い緑色にする</a:t>
            </a:r>
          </a:p>
          <a:p>
            <a:r>
              <a:rPr lang="ja-JP" sz="2000">
                <a:ea typeface="ＭＳ Ｐゴシック"/>
              </a:rPr>
              <a:t>ページ内の文字をArialなど、見やすいゴシック体にする</a:t>
            </a:r>
          </a:p>
          <a:p>
            <a:r>
              <a:rPr lang="ja-JP" sz="2000">
                <a:ea typeface="ＭＳ Ｐゴシック"/>
              </a:rPr>
              <a:t>ページの高さを画面いっぱい（100%）にする</a:t>
            </a:r>
          </a:p>
          <a:p>
            <a:r>
              <a:rPr lang="ja-JP" sz="2000">
                <a:ea typeface="ＭＳ Ｐゴシック"/>
              </a:rPr>
              <a:t>要素の並べ方を</a:t>
            </a:r>
            <a:r>
              <a:rPr lang="en-US" altLang="ja-JP" sz="2000" dirty="0">
                <a:ea typeface="ＭＳ Ｐゴシック"/>
              </a:rPr>
              <a:t>Flexbox</a:t>
            </a:r>
            <a:r>
              <a:rPr lang="ja-JP" sz="2000">
                <a:ea typeface="ＭＳ Ｐゴシック"/>
              </a:rPr>
              <a:t>という柔軟な方法で制御し始める</a:t>
            </a:r>
          </a:p>
          <a:p>
            <a:r>
              <a:rPr lang="ja-JP" sz="2000">
                <a:ea typeface="ＭＳ Ｐゴシック"/>
              </a:rPr>
              <a:t>ページ内の要素（タイトル、ボタンなど）を上から下（縦に）に一列に並べる</a:t>
            </a:r>
          </a:p>
          <a:p>
            <a:r>
              <a:rPr lang="ja-JP" sz="2000">
                <a:ea typeface="ＭＳ Ｐゴシック"/>
              </a:rPr>
              <a:t>縦に並べた要素を、左右の真ん中に集める</a:t>
            </a:r>
          </a:p>
          <a:p>
            <a:r>
              <a:rPr lang="ja-JP" sz="2000">
                <a:ea typeface="ＭＳ Ｐゴシック"/>
              </a:rPr>
              <a:t>縦に並べた要素を、上下の真ん中に集める</a:t>
            </a:r>
            <a:endParaRPr lang="en-US" altLang="ja-JP" sz="2000">
              <a:ea typeface="ＭＳ Ｐゴシック"/>
            </a:endParaRPr>
          </a:p>
          <a:p>
            <a:r>
              <a:rPr lang="ja-JP" sz="2000">
                <a:ea typeface="ＭＳ Ｐゴシック"/>
              </a:rPr>
              <a:t>ページの外側（</a:t>
            </a:r>
            <a:r>
              <a:rPr lang="ja-JP" sz="2000">
                <a:latin typeface="Consolas"/>
                <a:ea typeface="ＭＳ Ｐゴシック"/>
              </a:rPr>
              <a:t>margin</a:t>
            </a:r>
            <a:r>
              <a:rPr lang="ja-JP" sz="2000">
                <a:ea typeface="ＭＳ Ｐゴシック"/>
              </a:rPr>
              <a:t>）と内側（</a:t>
            </a:r>
            <a:r>
              <a:rPr lang="ja-JP" sz="2000">
                <a:latin typeface="Consolas"/>
                <a:ea typeface="ＭＳ Ｐゴシック"/>
              </a:rPr>
              <a:t>padding</a:t>
            </a:r>
            <a:r>
              <a:rPr lang="ja-JP" sz="2000">
                <a:ea typeface="ＭＳ Ｐゴシック"/>
              </a:rPr>
              <a:t>）の余白を設定し、端に寄せすぎないようにする</a:t>
            </a:r>
          </a:p>
          <a:p>
            <a:endParaRPr lang="ja-JP" altLang="en-US" sz="2000" dirty="0">
              <a:ea typeface="ＭＳ Ｐゴシック"/>
            </a:endParaRPr>
          </a:p>
        </p:txBody>
      </p:sp>
    </p:spTree>
    <p:extLst>
      <p:ext uri="{BB962C8B-B14F-4D97-AF65-F5344CB8AC3E}">
        <p14:creationId xmlns:p14="http://schemas.microsoft.com/office/powerpoint/2010/main" val="2651706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070580-E06A-02C3-0A80-B68E3AACD48C}"/>
              </a:ext>
            </a:extLst>
          </p:cNvPr>
          <p:cNvSpPr>
            <a:spLocks noGrp="1"/>
          </p:cNvSpPr>
          <p:nvPr>
            <p:ph type="title"/>
          </p:nvPr>
        </p:nvSpPr>
        <p:spPr/>
        <p:txBody>
          <a:bodyPr/>
          <a:lstStyle/>
          <a:p>
            <a:r>
              <a:rPr lang="ja-JP" altLang="en-US">
                <a:ea typeface="ＭＳ Ｐゴシック"/>
              </a:rPr>
              <a:t>6.現在の目標</a:t>
            </a:r>
          </a:p>
        </p:txBody>
      </p:sp>
      <p:sp>
        <p:nvSpPr>
          <p:cNvPr id="3" name="コンテンツ プレースホルダー 2">
            <a:extLst>
              <a:ext uri="{FF2B5EF4-FFF2-40B4-BE49-F238E27FC236}">
                <a16:creationId xmlns:a16="http://schemas.microsoft.com/office/drawing/2014/main" id="{81B1713A-4D28-970E-6E38-5A972E9F71BD}"/>
              </a:ext>
            </a:extLst>
          </p:cNvPr>
          <p:cNvSpPr>
            <a:spLocks noGrp="1"/>
          </p:cNvSpPr>
          <p:nvPr>
            <p:ph idx="1"/>
          </p:nvPr>
        </p:nvSpPr>
        <p:spPr/>
        <p:txBody>
          <a:bodyPr vert="horz" lIns="91440" tIns="45720" rIns="91440" bIns="45720" rtlCol="0" anchor="t">
            <a:normAutofit/>
          </a:bodyPr>
          <a:lstStyle/>
          <a:p>
            <a:r>
              <a:rPr lang="ja-JP" altLang="en-US">
                <a:ea typeface="ＭＳ Ｐゴシック"/>
              </a:rPr>
              <a:t>ミッションが現在一つしかできていないので、複数個達成できる仕様にする</a:t>
            </a:r>
          </a:p>
          <a:p>
            <a:endParaRPr lang="ja-JP" altLang="en-US" dirty="0">
              <a:ea typeface="ＭＳ Ｐゴシック"/>
            </a:endParaRPr>
          </a:p>
          <a:p>
            <a:r>
              <a:rPr lang="ja-JP" altLang="en-US">
                <a:ea typeface="ＭＳ Ｐゴシック"/>
              </a:rPr>
              <a:t>ミッションを歩数だけでなく、運動時間、日数も課せるようにする</a:t>
            </a:r>
          </a:p>
          <a:p>
            <a:endParaRPr lang="ja-JP" altLang="en-US" dirty="0">
              <a:ea typeface="ＭＳ Ｐゴシック"/>
            </a:endParaRPr>
          </a:p>
          <a:p>
            <a:r>
              <a:rPr lang="ja-JP" altLang="en-US">
                <a:ea typeface="ＭＳ Ｐゴシック"/>
              </a:rPr>
              <a:t>制限時間付きのミッションや隠しミッションの実現</a:t>
            </a:r>
            <a:endParaRPr lang="ja-JP" altLang="en-US" dirty="0">
              <a:ea typeface="ＭＳ Ｐゴシック"/>
            </a:endParaRPr>
          </a:p>
        </p:txBody>
      </p:sp>
    </p:spTree>
    <p:extLst>
      <p:ext uri="{BB962C8B-B14F-4D97-AF65-F5344CB8AC3E}">
        <p14:creationId xmlns:p14="http://schemas.microsoft.com/office/powerpoint/2010/main" val="4080060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FCF7F7-66EC-6E02-BBE7-E7966F60BBF9}"/>
              </a:ext>
            </a:extLst>
          </p:cNvPr>
          <p:cNvSpPr>
            <a:spLocks noGrp="1"/>
          </p:cNvSpPr>
          <p:nvPr>
            <p:ph type="title"/>
          </p:nvPr>
        </p:nvSpPr>
        <p:spPr/>
        <p:txBody>
          <a:bodyPr/>
          <a:lstStyle/>
          <a:p>
            <a:r>
              <a:rPr lang="ja-JP" altLang="en-US">
                <a:ea typeface="ＭＳ Ｐゴシック"/>
              </a:rPr>
              <a:t>現時点での達成状況</a:t>
            </a:r>
            <a:endParaRPr kumimoji="1" lang="ja-JP" altLang="en-US"/>
          </a:p>
        </p:txBody>
      </p:sp>
      <p:pic>
        <p:nvPicPr>
          <p:cNvPr id="4" name="コンテンツ プレースホルダー 3" descr="グラフィカル ユーザー インターフェイス, Web サイト&#10;&#10;AI 生成コンテンツは間違っている可能性があります。">
            <a:extLst>
              <a:ext uri="{FF2B5EF4-FFF2-40B4-BE49-F238E27FC236}">
                <a16:creationId xmlns:a16="http://schemas.microsoft.com/office/drawing/2014/main" id="{8F8FA900-8730-9580-8898-BA34126BA77B}"/>
              </a:ext>
            </a:extLst>
          </p:cNvPr>
          <p:cNvPicPr>
            <a:picLocks noGrp="1" noChangeAspect="1"/>
          </p:cNvPicPr>
          <p:nvPr>
            <p:ph idx="1"/>
          </p:nvPr>
        </p:nvPicPr>
        <p:blipFill>
          <a:blip r:embed="rId2"/>
          <a:stretch>
            <a:fillRect/>
          </a:stretch>
        </p:blipFill>
        <p:spPr>
          <a:xfrm>
            <a:off x="3994875" y="1397554"/>
            <a:ext cx="3296476" cy="4977442"/>
          </a:xfrm>
          <a:prstGeom prst="rect">
            <a:avLst/>
          </a:prstGeom>
        </p:spPr>
      </p:pic>
    </p:spTree>
    <p:extLst>
      <p:ext uri="{BB962C8B-B14F-4D97-AF65-F5344CB8AC3E}">
        <p14:creationId xmlns:p14="http://schemas.microsoft.com/office/powerpoint/2010/main" val="2846700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5C48F-E06D-2485-2E06-A375DF6AEE67}"/>
              </a:ext>
            </a:extLst>
          </p:cNvPr>
          <p:cNvSpPr>
            <a:spLocks noGrp="1"/>
          </p:cNvSpPr>
          <p:nvPr>
            <p:ph type="title"/>
          </p:nvPr>
        </p:nvSpPr>
        <p:spPr/>
        <p:txBody>
          <a:bodyPr/>
          <a:lstStyle/>
          <a:p>
            <a:r>
              <a:rPr lang="ja-JP" altLang="en-US">
                <a:ea typeface="ＭＳ Ｐゴシック"/>
              </a:rPr>
              <a:t>７．まとめと今後の展望</a:t>
            </a:r>
            <a:endParaRPr kumimoji="1" lang="ja-JP" altLang="en-US"/>
          </a:p>
        </p:txBody>
      </p:sp>
      <p:sp>
        <p:nvSpPr>
          <p:cNvPr id="3" name="コンテンツ プレースホルダー 2">
            <a:extLst>
              <a:ext uri="{FF2B5EF4-FFF2-40B4-BE49-F238E27FC236}">
                <a16:creationId xmlns:a16="http://schemas.microsoft.com/office/drawing/2014/main" id="{CAEFBE89-C974-607A-B176-9C2807998D49}"/>
              </a:ext>
            </a:extLst>
          </p:cNvPr>
          <p:cNvSpPr>
            <a:spLocks noGrp="1"/>
          </p:cNvSpPr>
          <p:nvPr>
            <p:ph idx="1"/>
          </p:nvPr>
        </p:nvSpPr>
        <p:spPr/>
        <p:txBody>
          <a:bodyPr vert="horz" lIns="91440" tIns="45720" rIns="91440" bIns="45720" rtlCol="0" anchor="t">
            <a:normAutofit/>
          </a:bodyPr>
          <a:lstStyle/>
          <a:p>
            <a:pPr marL="0" indent="0">
              <a:buNone/>
            </a:pPr>
            <a:r>
              <a:rPr lang="ja-JP" altLang="en-US">
                <a:ea typeface="ＭＳ Ｐゴシック"/>
              </a:rPr>
              <a:t>現在に至るまで何度もコードの変更を行ってきており、コードが複雑になるにつれてわかりにくくなったり、他の人のコードに変更を加えなければいけない場面が増えてきているので、その都度班の人同士で確認を行い混乱を招かないようにしていきたい。</a:t>
            </a:r>
            <a:endParaRPr lang="ja-JP">
              <a:ea typeface="ＭＳ Ｐゴシック"/>
            </a:endParaRPr>
          </a:p>
          <a:p>
            <a:pPr marL="0" indent="0">
              <a:buNone/>
            </a:pPr>
            <a:r>
              <a:rPr lang="ja-JP" altLang="en-US">
                <a:ea typeface="ＭＳ Ｐゴシック"/>
              </a:rPr>
              <a:t>また、スコアやランキング機能の実装を断念した代わりに、６番で掲げた目標の達成を行えるようにし、理想のwebページを完成させられるようにする。</a:t>
            </a:r>
            <a:endParaRPr lang="ja-JP">
              <a:ea typeface="ＭＳ Ｐゴシック"/>
            </a:endParaRPr>
          </a:p>
          <a:p>
            <a:pPr marL="0" indent="0">
              <a:buNone/>
            </a:pPr>
            <a:endParaRPr lang="ja-JP" altLang="en-US" dirty="0">
              <a:ea typeface="ＭＳ Ｐゴシック"/>
            </a:endParaRPr>
          </a:p>
          <a:p>
            <a:endParaRPr lang="ja-JP" altLang="en-US" dirty="0">
              <a:ea typeface="ＭＳ Ｐゴシック"/>
            </a:endParaRPr>
          </a:p>
          <a:p>
            <a:endParaRPr lang="ja-JP" altLang="en-US" dirty="0">
              <a:ea typeface="ＭＳ Ｐゴシック"/>
            </a:endParaRPr>
          </a:p>
        </p:txBody>
      </p:sp>
    </p:spTree>
    <p:extLst>
      <p:ext uri="{BB962C8B-B14F-4D97-AF65-F5344CB8AC3E}">
        <p14:creationId xmlns:p14="http://schemas.microsoft.com/office/powerpoint/2010/main" val="72312833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558</Words>
  <Application>Microsoft Office PowerPoint</Application>
  <PresentationFormat>ワイド画面</PresentationFormat>
  <Paragraphs>50</Paragraphs>
  <Slides>11</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11</vt:i4>
      </vt:variant>
    </vt:vector>
  </HeadingPairs>
  <TitlesOfParts>
    <vt:vector size="17" baseType="lpstr">
      <vt:lpstr>ＭＳ Ｐゴシック</vt:lpstr>
      <vt:lpstr>Aptos</vt:lpstr>
      <vt:lpstr>Aptos Display</vt:lpstr>
      <vt:lpstr>Arial</vt:lpstr>
      <vt:lpstr>Consolas</vt:lpstr>
      <vt:lpstr>Office テーマ</vt:lpstr>
      <vt:lpstr>C班中間報告 </vt:lpstr>
      <vt:lpstr>１.実習計画の復習</vt:lpstr>
      <vt:lpstr>ガントチャート</vt:lpstr>
      <vt:lpstr>2.３.目標の変更と理由</vt:lpstr>
      <vt:lpstr>４．共同作業報告</vt:lpstr>
      <vt:lpstr>５．開発に使用しているコード</vt:lpstr>
      <vt:lpstr>Javascript</vt:lpstr>
      <vt:lpstr>ｃss</vt:lpstr>
      <vt:lpstr>6.現在の目標</vt:lpstr>
      <vt:lpstr>現時点での達成状況</vt:lpstr>
      <vt:lpstr>７．まとめと今後の展望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和哉 中川</cp:lastModifiedBy>
  <cp:revision>377</cp:revision>
  <dcterms:created xsi:type="dcterms:W3CDTF">2025-11-05T05:58:09Z</dcterms:created>
  <dcterms:modified xsi:type="dcterms:W3CDTF">2025-11-05T07:22:29Z</dcterms:modified>
</cp:coreProperties>
</file>