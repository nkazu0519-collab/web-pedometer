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3" r:id="rId8"/>
    <p:sldId id="262"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6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732643-F1AF-A570-CA97-D68E0057743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26CAF9B-D5A0-02E0-67D0-FE13213265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4A378F0-19CF-902F-9234-117D489A313E}"/>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5" name="フッター プレースホルダー 4">
            <a:extLst>
              <a:ext uri="{FF2B5EF4-FFF2-40B4-BE49-F238E27FC236}">
                <a16:creationId xmlns:a16="http://schemas.microsoft.com/office/drawing/2014/main" id="{8BE20F73-62D1-201C-293F-271B0ADD78A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22D4DE-9F88-B121-CE0C-23F92929FA62}"/>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3820044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B42BD-2C3A-72E4-31A4-BE7901C6360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EEC843-9519-028B-2D0F-B640DCB8D0E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716E77-8C6E-216B-FF17-0D2AA0DFB654}"/>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5" name="フッター プレースホルダー 4">
            <a:extLst>
              <a:ext uri="{FF2B5EF4-FFF2-40B4-BE49-F238E27FC236}">
                <a16:creationId xmlns:a16="http://schemas.microsoft.com/office/drawing/2014/main" id="{96C323BD-DC8A-04E1-0454-B8D6C6A3370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371A15-9D4C-E736-F781-B681B10CC80A}"/>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4205520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421E7E-B4CB-F38F-90E2-6268DE8D9AE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CA68BCC-A0C9-CA79-98AB-202E76356D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8466750-EF86-D671-42AF-9EE1989342BF}"/>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5" name="フッター プレースホルダー 4">
            <a:extLst>
              <a:ext uri="{FF2B5EF4-FFF2-40B4-BE49-F238E27FC236}">
                <a16:creationId xmlns:a16="http://schemas.microsoft.com/office/drawing/2014/main" id="{E9FDC6F8-553E-689C-41C9-7F53B5D075E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BEFDA34-E23E-B08C-C40D-8655783B5699}"/>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743171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000A62-7D26-8E81-E3DC-6E4BFD2D563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6FF8963-20F8-2D52-ACA8-258457B8656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C63BFD2-1E9A-B05C-458F-D3E6AB13001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575AB31-2E88-9E37-E9E3-18843EBFFB63}"/>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6" name="フッター プレースホルダー 5">
            <a:extLst>
              <a:ext uri="{FF2B5EF4-FFF2-40B4-BE49-F238E27FC236}">
                <a16:creationId xmlns:a16="http://schemas.microsoft.com/office/drawing/2014/main" id="{CD579A56-22A6-1029-1AA5-7A493C7D0F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A087998-E554-8641-52B3-1C9D2DF8E138}"/>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1202902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6795C4-782B-945E-70E6-B8C2885B679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8C9D6A-68DE-9978-CC1F-388AF039A6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8C111EE-03B3-6C19-B8D0-8E39165CDEE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7CEB693-41DD-8018-CFA7-D7697E2E3C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4F95370-BB6A-1642-ABEC-DD467408218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6A2B576-8107-BD8E-65A3-DA5F94820BFE}"/>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8" name="フッター プレースホルダー 7">
            <a:extLst>
              <a:ext uri="{FF2B5EF4-FFF2-40B4-BE49-F238E27FC236}">
                <a16:creationId xmlns:a16="http://schemas.microsoft.com/office/drawing/2014/main" id="{D3A330C3-3435-4620-6FC3-88E0694148F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6730027-39D6-88A6-6FDC-1269F20FB51B}"/>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1815811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2C9FE6-DE4D-7224-87FC-029B9072827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0ECD82E-84D5-BCB8-6353-CD45A5993567}"/>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4" name="フッター プレースホルダー 3">
            <a:extLst>
              <a:ext uri="{FF2B5EF4-FFF2-40B4-BE49-F238E27FC236}">
                <a16:creationId xmlns:a16="http://schemas.microsoft.com/office/drawing/2014/main" id="{9AFCB005-BCFF-5719-297C-690B77F1082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4BFF554-DE9F-B71E-AB09-EA1C23B004AB}"/>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119907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B0D0150-06CE-3735-21A1-07A09293F3DC}"/>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3" name="フッター プレースホルダー 2">
            <a:extLst>
              <a:ext uri="{FF2B5EF4-FFF2-40B4-BE49-F238E27FC236}">
                <a16:creationId xmlns:a16="http://schemas.microsoft.com/office/drawing/2014/main" id="{018E460C-4FA8-C1AE-7454-0E4B976326B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01BE86E-7676-EB4F-D85E-D537A17D1A09}"/>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2734722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DFAF8E-8865-EEAA-9C67-4A8071B629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12211C-1076-61ED-0058-BAA644D037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6F737C4-CEF1-6EC4-8087-AAD951519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3A9AF75-34E2-DEAC-31A9-8D80D5730CE9}"/>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6" name="フッター プレースホルダー 5">
            <a:extLst>
              <a:ext uri="{FF2B5EF4-FFF2-40B4-BE49-F238E27FC236}">
                <a16:creationId xmlns:a16="http://schemas.microsoft.com/office/drawing/2014/main" id="{51CA765E-78A4-D720-72E3-C1B877873AB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CA9CF23-BF4E-35E0-7D45-08E2025B990D}"/>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373148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800B3E-CC17-E6D4-5DA7-B0C9DCEEAE9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C756FB0-419E-9C75-205C-F3D52C3368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9A9D6DD-684D-C7CE-1ECF-BE6B91059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EE48203-2F33-6DB2-0C36-64EC5E2D2944}"/>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6" name="フッター プレースホルダー 5">
            <a:extLst>
              <a:ext uri="{FF2B5EF4-FFF2-40B4-BE49-F238E27FC236}">
                <a16:creationId xmlns:a16="http://schemas.microsoft.com/office/drawing/2014/main" id="{5E0F35C0-54E1-205A-D4B6-A0893568BE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84FFBEB-4338-4959-ACB1-765284B91A8B}"/>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2966079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C484E1-1629-1F6A-413A-A256724140E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900F98F-69DA-EDA2-85F6-AD15D99761C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25B767-4386-3F8C-9AFD-D7B204DFBCC5}"/>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5" name="フッター プレースホルダー 4">
            <a:extLst>
              <a:ext uri="{FF2B5EF4-FFF2-40B4-BE49-F238E27FC236}">
                <a16:creationId xmlns:a16="http://schemas.microsoft.com/office/drawing/2014/main" id="{CD9876E1-11E8-F9E2-B4CC-29E715797DB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C56DED-D417-3F9B-F3A6-2DEDC287526F}"/>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1004347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58A66F0-64D2-629E-3103-FBA9095E68E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13CEB4F-D0D5-5CBB-E7B8-874CB22855A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58C4D3-F8AB-1258-1633-2566808031F6}"/>
              </a:ext>
            </a:extLst>
          </p:cNvPr>
          <p:cNvSpPr>
            <a:spLocks noGrp="1"/>
          </p:cNvSpPr>
          <p:nvPr>
            <p:ph type="dt" sz="half" idx="10"/>
          </p:nvPr>
        </p:nvSpPr>
        <p:spPr/>
        <p:txBody>
          <a:bodyPr/>
          <a:lstStyle/>
          <a:p>
            <a:fld id="{4F56CF8C-823A-4F7F-9F29-D83E05591909}" type="datetimeFigureOut">
              <a:rPr kumimoji="1" lang="ja-JP" altLang="en-US" smtClean="0"/>
              <a:t>2025/11/26</a:t>
            </a:fld>
            <a:endParaRPr kumimoji="1" lang="ja-JP" altLang="en-US"/>
          </a:p>
        </p:txBody>
      </p:sp>
      <p:sp>
        <p:nvSpPr>
          <p:cNvPr id="5" name="フッター プレースホルダー 4">
            <a:extLst>
              <a:ext uri="{FF2B5EF4-FFF2-40B4-BE49-F238E27FC236}">
                <a16:creationId xmlns:a16="http://schemas.microsoft.com/office/drawing/2014/main" id="{A6B6ED91-F0EA-0945-4783-5B238C34359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8E8701-F7FF-5B70-FB89-0D563B1BDA4D}"/>
              </a:ext>
            </a:extLst>
          </p:cNvPr>
          <p:cNvSpPr>
            <a:spLocks noGrp="1"/>
          </p:cNvSpPr>
          <p:nvPr>
            <p:ph type="sldNum" sz="quarter" idx="12"/>
          </p:nvPr>
        </p:nvSpPr>
        <p:spPr/>
        <p:txBody>
          <a:body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1765084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DF8B77F-B59E-F298-848C-1262C183C6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46DADDE-242A-2C37-4D52-8F71A9B191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C919CF-5304-9E47-8BCA-86CF66477E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6CF8C-823A-4F7F-9F29-D83E05591909}" type="datetimeFigureOut">
              <a:rPr kumimoji="1" lang="ja-JP" altLang="en-US" smtClean="0"/>
              <a:t>2025/11/26</a:t>
            </a:fld>
            <a:endParaRPr kumimoji="1" lang="ja-JP" altLang="en-US"/>
          </a:p>
        </p:txBody>
      </p:sp>
      <p:sp>
        <p:nvSpPr>
          <p:cNvPr id="5" name="フッター プレースホルダー 4">
            <a:extLst>
              <a:ext uri="{FF2B5EF4-FFF2-40B4-BE49-F238E27FC236}">
                <a16:creationId xmlns:a16="http://schemas.microsoft.com/office/drawing/2014/main" id="{BD78C047-E1DE-A6F0-9878-9D8292B935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09CD628-E7E7-CE0E-E3E4-5CE7A6C6B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6386F3-60C2-4126-808E-5C4FAFC40E74}" type="slidenum">
              <a:rPr kumimoji="1" lang="ja-JP" altLang="en-US" smtClean="0"/>
              <a:t>‹#›</a:t>
            </a:fld>
            <a:endParaRPr kumimoji="1" lang="ja-JP" altLang="en-US"/>
          </a:p>
        </p:txBody>
      </p:sp>
    </p:spTree>
    <p:extLst>
      <p:ext uri="{BB962C8B-B14F-4D97-AF65-F5344CB8AC3E}">
        <p14:creationId xmlns:p14="http://schemas.microsoft.com/office/powerpoint/2010/main" val="219830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CB49AE-D03C-28DC-BF77-E15B3C581FFF}"/>
              </a:ext>
            </a:extLst>
          </p:cNvPr>
          <p:cNvSpPr>
            <a:spLocks noGrp="1"/>
          </p:cNvSpPr>
          <p:nvPr>
            <p:ph type="ctrTitle"/>
          </p:nvPr>
        </p:nvSpPr>
        <p:spPr/>
        <p:txBody>
          <a:bodyPr/>
          <a:lstStyle/>
          <a:p>
            <a:r>
              <a:rPr lang="ja-JP" altLang="en-US" dirty="0">
                <a:ea typeface="游ゴシック Light"/>
              </a:rPr>
              <a:t>c班最終報告</a:t>
            </a:r>
          </a:p>
        </p:txBody>
      </p:sp>
      <p:sp>
        <p:nvSpPr>
          <p:cNvPr id="3" name="字幕 2">
            <a:extLst>
              <a:ext uri="{FF2B5EF4-FFF2-40B4-BE49-F238E27FC236}">
                <a16:creationId xmlns:a16="http://schemas.microsoft.com/office/drawing/2014/main" id="{76331FB3-A872-AE49-7221-DC43263CB241}"/>
              </a:ext>
            </a:extLst>
          </p:cNvPr>
          <p:cNvSpPr>
            <a:spLocks noGrp="1"/>
          </p:cNvSpPr>
          <p:nvPr>
            <p:ph type="subTitle" idx="1"/>
          </p:nvPr>
        </p:nvSpPr>
        <p:spPr/>
        <p:txBody>
          <a:bodyPr vert="horz" lIns="91440" tIns="45720" rIns="91440" bIns="45720" rtlCol="0" anchor="t">
            <a:normAutofit/>
          </a:bodyPr>
          <a:lstStyle/>
          <a:p>
            <a:r>
              <a:rPr lang="ja-JP" altLang="en-US">
                <a:ea typeface="游ゴシック"/>
              </a:rPr>
              <a:t>T24B242K　國井太貴</a:t>
            </a:r>
          </a:p>
          <a:p>
            <a:r>
              <a:rPr lang="ja-JP" altLang="en-US">
                <a:latin typeface="游ゴシック" panose="020F0502020204030204"/>
                <a:ea typeface="游ゴシック"/>
              </a:rPr>
              <a:t>T24B202A　阿部隼也</a:t>
            </a:r>
          </a:p>
          <a:p>
            <a:r>
              <a:rPr lang="ja-JP" altLang="en-US">
                <a:latin typeface="游ゴシック" panose="020F0502020204030204"/>
                <a:ea typeface="游ゴシック"/>
              </a:rPr>
              <a:t>T24B304C　中川和哉</a:t>
            </a:r>
          </a:p>
        </p:txBody>
      </p:sp>
    </p:spTree>
    <p:extLst>
      <p:ext uri="{BB962C8B-B14F-4D97-AF65-F5344CB8AC3E}">
        <p14:creationId xmlns:p14="http://schemas.microsoft.com/office/powerpoint/2010/main" val="1458373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260CCB-B573-E26D-6AEC-747CEED1DC7C}"/>
              </a:ext>
            </a:extLst>
          </p:cNvPr>
          <p:cNvSpPr>
            <a:spLocks noGrp="1"/>
          </p:cNvSpPr>
          <p:nvPr>
            <p:ph type="title"/>
          </p:nvPr>
        </p:nvSpPr>
        <p:spPr/>
        <p:txBody>
          <a:bodyPr/>
          <a:lstStyle/>
          <a:p>
            <a:r>
              <a:rPr lang="ja-JP" altLang="en-US">
                <a:ea typeface="游ゴシック Light"/>
              </a:rPr>
              <a:t>1．班全体の目標</a:t>
            </a:r>
            <a:endParaRPr kumimoji="1" lang="ja-JP" altLang="en-US"/>
          </a:p>
        </p:txBody>
      </p:sp>
      <p:sp>
        <p:nvSpPr>
          <p:cNvPr id="3" name="コンテンツ プレースホルダー 2">
            <a:extLst>
              <a:ext uri="{FF2B5EF4-FFF2-40B4-BE49-F238E27FC236}">
                <a16:creationId xmlns:a16="http://schemas.microsoft.com/office/drawing/2014/main" id="{6FB832B4-3814-E051-A1F9-84A994BA0568}"/>
              </a:ext>
            </a:extLst>
          </p:cNvPr>
          <p:cNvSpPr>
            <a:spLocks noGrp="1"/>
          </p:cNvSpPr>
          <p:nvPr>
            <p:ph idx="1"/>
          </p:nvPr>
        </p:nvSpPr>
        <p:spPr/>
        <p:txBody>
          <a:bodyPr vert="horz" lIns="91440" tIns="45720" rIns="91440" bIns="45720" rtlCol="0" anchor="t">
            <a:normAutofit/>
          </a:bodyPr>
          <a:lstStyle/>
          <a:p>
            <a:r>
              <a:rPr lang="ja-JP" altLang="en-US">
                <a:ea typeface="游ゴシック"/>
              </a:rPr>
              <a:t>大目標：世界中で運動不足が深刻化しているため、それを解消すること</a:t>
            </a:r>
          </a:p>
          <a:p>
            <a:pPr marL="0" indent="0">
              <a:buNone/>
            </a:pPr>
            <a:r>
              <a:rPr lang="ja-JP" altLang="en-US">
                <a:ea typeface="游ゴシック"/>
              </a:rPr>
              <a:t>理由：スマートフォンを触る時間の増加、遊び場の減少などといった要因により、運動不足が深刻化していると感じていたため</a:t>
            </a:r>
          </a:p>
          <a:p>
            <a:endParaRPr lang="ja-JP" altLang="en-US">
              <a:ea typeface="游ゴシック"/>
            </a:endParaRPr>
          </a:p>
          <a:p>
            <a:r>
              <a:rPr lang="ja-JP" altLang="en-US">
                <a:ea typeface="游ゴシック"/>
              </a:rPr>
              <a:t>小目標：子供世代の運動不足を解消するために、スマートフォンを利用したウェブページを開発し、運動習慣を促す</a:t>
            </a:r>
          </a:p>
          <a:p>
            <a:pPr marL="0" indent="0">
              <a:buNone/>
            </a:pPr>
            <a:r>
              <a:rPr lang="ja-JP" altLang="en-US">
                <a:ea typeface="游ゴシック"/>
              </a:rPr>
              <a:t>理由：</a:t>
            </a:r>
            <a:r>
              <a:rPr lang="ja-JP">
                <a:solidFill>
                  <a:srgbClr val="111111"/>
                </a:solidFill>
                <a:latin typeface="Roboto"/>
                <a:ea typeface="游ゴシック"/>
                <a:cs typeface="Roboto"/>
              </a:rPr>
              <a:t>子どもの運動不足は、体力低下、肥満、免疫低下といった深刻な悪影響を子どもに与える問題</a:t>
            </a:r>
            <a:r>
              <a:rPr lang="ja-JP" altLang="en-US">
                <a:solidFill>
                  <a:srgbClr val="111111"/>
                </a:solidFill>
                <a:latin typeface="Roboto"/>
                <a:ea typeface="游ゴシック"/>
                <a:cs typeface="Roboto"/>
              </a:rPr>
              <a:t>があるとしったため</a:t>
            </a:r>
            <a:endParaRPr lang="ja-JP" altLang="en-US">
              <a:ea typeface="游ゴシック"/>
            </a:endParaRPr>
          </a:p>
        </p:txBody>
      </p:sp>
    </p:spTree>
    <p:extLst>
      <p:ext uri="{BB962C8B-B14F-4D97-AF65-F5344CB8AC3E}">
        <p14:creationId xmlns:p14="http://schemas.microsoft.com/office/powerpoint/2010/main" val="2762753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FF4D35-5F11-9E61-AF91-30395997B58A}"/>
              </a:ext>
            </a:extLst>
          </p:cNvPr>
          <p:cNvSpPr>
            <a:spLocks noGrp="1"/>
          </p:cNvSpPr>
          <p:nvPr>
            <p:ph type="title"/>
          </p:nvPr>
        </p:nvSpPr>
        <p:spPr/>
        <p:txBody>
          <a:bodyPr>
            <a:normAutofit/>
          </a:bodyPr>
          <a:lstStyle/>
          <a:p>
            <a:r>
              <a:rPr lang="ja-JP" altLang="en-US" sz="3600">
                <a:ea typeface="游ゴシック Light"/>
              </a:rPr>
              <a:t>2, 3 目標達成に向けての班での計画と実際の推移</a:t>
            </a:r>
          </a:p>
        </p:txBody>
      </p:sp>
      <p:pic>
        <p:nvPicPr>
          <p:cNvPr id="4" name="コンテンツ プレースホルダー 3" descr="テーブル&#10;&#10;AI 生成コンテンツは間違っている可能性があります。">
            <a:extLst>
              <a:ext uri="{FF2B5EF4-FFF2-40B4-BE49-F238E27FC236}">
                <a16:creationId xmlns:a16="http://schemas.microsoft.com/office/drawing/2014/main" id="{341E78B4-D43D-4F3F-1311-B854109220C0}"/>
              </a:ext>
            </a:extLst>
          </p:cNvPr>
          <p:cNvPicPr>
            <a:picLocks noGrp="1" noChangeAspect="1"/>
          </p:cNvPicPr>
          <p:nvPr>
            <p:ph idx="1"/>
          </p:nvPr>
        </p:nvPicPr>
        <p:blipFill>
          <a:blip r:embed="rId2"/>
          <a:stretch>
            <a:fillRect/>
          </a:stretch>
        </p:blipFill>
        <p:spPr>
          <a:xfrm>
            <a:off x="838200" y="2382405"/>
            <a:ext cx="10515600" cy="4301404"/>
          </a:xfrm>
          <a:prstGeom prst="rect">
            <a:avLst/>
          </a:prstGeom>
        </p:spPr>
      </p:pic>
      <p:sp>
        <p:nvSpPr>
          <p:cNvPr id="5" name="テキスト ボックス 4">
            <a:extLst>
              <a:ext uri="{FF2B5EF4-FFF2-40B4-BE49-F238E27FC236}">
                <a16:creationId xmlns:a16="http://schemas.microsoft.com/office/drawing/2014/main" id="{9C8DD516-D1C7-6E09-8F71-55D22CBC312B}"/>
              </a:ext>
            </a:extLst>
          </p:cNvPr>
          <p:cNvSpPr txBox="1"/>
          <p:nvPr/>
        </p:nvSpPr>
        <p:spPr>
          <a:xfrm>
            <a:off x="3830287" y="1514802"/>
            <a:ext cx="3559786" cy="9521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ja-JP" altLang="en-US"/>
          </a:p>
        </p:txBody>
      </p:sp>
      <p:sp>
        <p:nvSpPr>
          <p:cNvPr id="7" name="テキスト ボックス 6">
            <a:extLst>
              <a:ext uri="{FF2B5EF4-FFF2-40B4-BE49-F238E27FC236}">
                <a16:creationId xmlns:a16="http://schemas.microsoft.com/office/drawing/2014/main" id="{8F8EDC9F-33E7-ACD3-D7FE-ED423EF61465}"/>
              </a:ext>
            </a:extLst>
          </p:cNvPr>
          <p:cNvSpPr txBox="1"/>
          <p:nvPr/>
        </p:nvSpPr>
        <p:spPr>
          <a:xfrm>
            <a:off x="4349647" y="1796122"/>
            <a:ext cx="295386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游ゴシック"/>
              </a:rPr>
              <a:t>最初の計画</a:t>
            </a:r>
            <a:endParaRPr lang="ja-JP" altLang="en-US" sz="3200"/>
          </a:p>
        </p:txBody>
      </p:sp>
    </p:spTree>
    <p:extLst>
      <p:ext uri="{BB962C8B-B14F-4D97-AF65-F5344CB8AC3E}">
        <p14:creationId xmlns:p14="http://schemas.microsoft.com/office/powerpoint/2010/main" val="427760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3" descr="テーブル&#10;&#10;AI 生成コンテンツは間違っている可能性があります。">
            <a:extLst>
              <a:ext uri="{FF2B5EF4-FFF2-40B4-BE49-F238E27FC236}">
                <a16:creationId xmlns:a16="http://schemas.microsoft.com/office/drawing/2014/main" id="{2F412672-F670-A465-533F-F2552F24B328}"/>
              </a:ext>
            </a:extLst>
          </p:cNvPr>
          <p:cNvPicPr>
            <a:picLocks noChangeAspect="1"/>
          </p:cNvPicPr>
          <p:nvPr/>
        </p:nvPicPr>
        <p:blipFill>
          <a:blip r:embed="rId2"/>
          <a:stretch>
            <a:fillRect/>
          </a:stretch>
        </p:blipFill>
        <p:spPr>
          <a:xfrm>
            <a:off x="838200" y="1637723"/>
            <a:ext cx="10515600" cy="4301404"/>
          </a:xfrm>
          <a:prstGeom prst="rect">
            <a:avLst/>
          </a:prstGeom>
        </p:spPr>
      </p:pic>
      <p:sp>
        <p:nvSpPr>
          <p:cNvPr id="6" name="テキスト ボックス 5">
            <a:extLst>
              <a:ext uri="{FF2B5EF4-FFF2-40B4-BE49-F238E27FC236}">
                <a16:creationId xmlns:a16="http://schemas.microsoft.com/office/drawing/2014/main" id="{4E041F67-E353-A273-44AD-869D56AA28F5}"/>
              </a:ext>
            </a:extLst>
          </p:cNvPr>
          <p:cNvSpPr txBox="1"/>
          <p:nvPr/>
        </p:nvSpPr>
        <p:spPr>
          <a:xfrm>
            <a:off x="3970947" y="1038721"/>
            <a:ext cx="374372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2800">
                <a:ea typeface="游ゴシック"/>
              </a:rPr>
              <a:t>実際の推移</a:t>
            </a:r>
          </a:p>
        </p:txBody>
      </p:sp>
      <p:sp>
        <p:nvSpPr>
          <p:cNvPr id="7" name="テキスト ボックス 6">
            <a:extLst>
              <a:ext uri="{FF2B5EF4-FFF2-40B4-BE49-F238E27FC236}">
                <a16:creationId xmlns:a16="http://schemas.microsoft.com/office/drawing/2014/main" id="{B0C8E64A-FB97-A679-75CF-5A8D892FC8BA}"/>
              </a:ext>
            </a:extLst>
          </p:cNvPr>
          <p:cNvSpPr txBox="1"/>
          <p:nvPr/>
        </p:nvSpPr>
        <p:spPr>
          <a:xfrm>
            <a:off x="835287" y="4542248"/>
            <a:ext cx="4230642" cy="400110"/>
          </a:xfrm>
          <a:prstGeom prst="rect">
            <a:avLst/>
          </a:prstGeom>
          <a:solidFill>
            <a:schemeClr val="bg1"/>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a:solidFill>
                  <a:srgbClr val="FF0000"/>
                </a:solidFill>
                <a:ea typeface="游ゴシック"/>
              </a:rPr>
              <a:t>追加のミッション機能の作成</a:t>
            </a:r>
            <a:endParaRPr lang="ja-JP" altLang="en-US" sz="2000">
              <a:solidFill>
                <a:srgbClr val="FF0000"/>
              </a:solidFill>
            </a:endParaRPr>
          </a:p>
        </p:txBody>
      </p:sp>
      <p:sp>
        <p:nvSpPr>
          <p:cNvPr id="8" name="正方形/長方形 7">
            <a:extLst>
              <a:ext uri="{FF2B5EF4-FFF2-40B4-BE49-F238E27FC236}">
                <a16:creationId xmlns:a16="http://schemas.microsoft.com/office/drawing/2014/main" id="{D72A5FA7-F95C-64C0-1577-6084D01488AE}"/>
              </a:ext>
            </a:extLst>
          </p:cNvPr>
          <p:cNvSpPr/>
          <p:nvPr/>
        </p:nvSpPr>
        <p:spPr>
          <a:xfrm>
            <a:off x="8634374" y="4492469"/>
            <a:ext cx="1802929" cy="493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475203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D30145-C1AF-B94E-52E4-F7C471C8B543}"/>
              </a:ext>
            </a:extLst>
          </p:cNvPr>
          <p:cNvSpPr>
            <a:spLocks noGrp="1"/>
          </p:cNvSpPr>
          <p:nvPr>
            <p:ph type="title"/>
          </p:nvPr>
        </p:nvSpPr>
        <p:spPr/>
        <p:txBody>
          <a:bodyPr/>
          <a:lstStyle/>
          <a:p>
            <a:r>
              <a:rPr lang="ja-JP" altLang="en-US">
                <a:ea typeface="游ゴシック Light"/>
              </a:rPr>
              <a:t>6．作成物の説明</a:t>
            </a:r>
          </a:p>
        </p:txBody>
      </p:sp>
      <p:sp>
        <p:nvSpPr>
          <p:cNvPr id="3" name="コンテンツ プレースホルダー 2">
            <a:extLst>
              <a:ext uri="{FF2B5EF4-FFF2-40B4-BE49-F238E27FC236}">
                <a16:creationId xmlns:a16="http://schemas.microsoft.com/office/drawing/2014/main" id="{82FA6440-4570-2E79-94AE-EE8432CB9F5B}"/>
              </a:ext>
            </a:extLst>
          </p:cNvPr>
          <p:cNvSpPr>
            <a:spLocks noGrp="1"/>
          </p:cNvSpPr>
          <p:nvPr>
            <p:ph idx="1"/>
          </p:nvPr>
        </p:nvSpPr>
        <p:spPr/>
        <p:txBody>
          <a:bodyPr vert="horz" lIns="91440" tIns="45720" rIns="91440" bIns="45720" rtlCol="0" anchor="t">
            <a:normAutofit/>
          </a:bodyPr>
          <a:lstStyle/>
          <a:p>
            <a:pPr marL="0" indent="0">
              <a:buNone/>
            </a:pPr>
            <a:r>
              <a:rPr lang="ja-JP" altLang="en-US">
                <a:ea typeface="游ゴシック"/>
              </a:rPr>
              <a:t>散歩をする際に計測開始ボタンを押すことで、歩いた歩数を記録する</a:t>
            </a:r>
          </a:p>
          <a:p>
            <a:pPr marL="0" indent="0">
              <a:buNone/>
            </a:pPr>
            <a:r>
              <a:rPr lang="ja-JP" altLang="en-US">
                <a:ea typeface="游ゴシック"/>
              </a:rPr>
              <a:t>機能としてクエストがあり、指定された条件をクリアすることで次のミッションが発生するようなものとなっている</a:t>
            </a:r>
          </a:p>
          <a:p>
            <a:pPr marL="0" indent="0">
              <a:buNone/>
            </a:pPr>
            <a:r>
              <a:rPr lang="ja-JP" altLang="en-US">
                <a:ea typeface="游ゴシック"/>
              </a:rPr>
              <a:t>クエストをクリアした際には、花火のような演出が出る</a:t>
            </a:r>
          </a:p>
          <a:p>
            <a:pPr marL="0" indent="0">
              <a:buNone/>
            </a:pPr>
            <a:r>
              <a:rPr lang="ja-JP" altLang="en-US">
                <a:ea typeface="游ゴシック"/>
              </a:rPr>
              <a:t>子供の興味を引き立たせるように、シークレットクエストがあり、一定の条件を満たすと発生する</a:t>
            </a:r>
          </a:p>
        </p:txBody>
      </p:sp>
    </p:spTree>
    <p:extLst>
      <p:ext uri="{BB962C8B-B14F-4D97-AF65-F5344CB8AC3E}">
        <p14:creationId xmlns:p14="http://schemas.microsoft.com/office/powerpoint/2010/main" val="183741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0E5CEB-B66F-66A8-6500-EEE36A94A5CD}"/>
              </a:ext>
            </a:extLst>
          </p:cNvPr>
          <p:cNvSpPr>
            <a:spLocks noGrp="1"/>
          </p:cNvSpPr>
          <p:nvPr>
            <p:ph type="title"/>
          </p:nvPr>
        </p:nvSpPr>
        <p:spPr/>
        <p:txBody>
          <a:bodyPr/>
          <a:lstStyle/>
          <a:p>
            <a:r>
              <a:rPr lang="ja-JP" altLang="en-US">
                <a:ea typeface="游ゴシック Light"/>
              </a:rPr>
              <a:t>4．共同作業について</a:t>
            </a:r>
            <a:endParaRPr kumimoji="1" lang="ja-JP" altLang="en-US"/>
          </a:p>
        </p:txBody>
      </p:sp>
      <p:sp>
        <p:nvSpPr>
          <p:cNvPr id="3" name="コンテンツ プレースホルダー 2">
            <a:extLst>
              <a:ext uri="{FF2B5EF4-FFF2-40B4-BE49-F238E27FC236}">
                <a16:creationId xmlns:a16="http://schemas.microsoft.com/office/drawing/2014/main" id="{E1797F72-265D-0A77-9CF7-8C1B7D10B4CA}"/>
              </a:ext>
            </a:extLst>
          </p:cNvPr>
          <p:cNvSpPr>
            <a:spLocks noGrp="1"/>
          </p:cNvSpPr>
          <p:nvPr>
            <p:ph idx="1"/>
          </p:nvPr>
        </p:nvSpPr>
        <p:spPr/>
        <p:txBody>
          <a:bodyPr vert="horz" lIns="91440" tIns="45720" rIns="91440" bIns="45720" rtlCol="0" anchor="t">
            <a:normAutofit/>
          </a:bodyPr>
          <a:lstStyle/>
          <a:p>
            <a:pPr marL="0" indent="0">
              <a:buNone/>
            </a:pPr>
            <a:r>
              <a:rPr lang="ja-JP" altLang="en-US">
                <a:ea typeface="游ゴシック"/>
              </a:rPr>
              <a:t>それぞれにhtml、javascript、cssの役割を分担し、効率よく作業を進めることができるようにした</a:t>
            </a:r>
            <a:endParaRPr lang="ja-JP" altLang="en-US">
              <a:ea typeface="游ゴシック" panose="020B0400000000000000" pitchFamily="34" charset="-128"/>
            </a:endParaRPr>
          </a:p>
          <a:p>
            <a:pPr marL="0" indent="0">
              <a:buNone/>
            </a:pPr>
            <a:r>
              <a:rPr lang="ja-JP" altLang="en-US">
                <a:ea typeface="游ゴシック"/>
              </a:rPr>
              <a:t>分からないことがあったら、メンバーに相談し柔軟に対応して作業を進めるられた</a:t>
            </a:r>
          </a:p>
          <a:p>
            <a:pPr marL="0" indent="0">
              <a:buNone/>
            </a:pPr>
            <a:r>
              <a:rPr lang="ja-JP" altLang="en-US">
                <a:ea typeface="游ゴシック"/>
              </a:rPr>
              <a:t>一度全員で作業している際、連携不足もあり、プログラムが一気に壊れてしまったことから反省し、</a:t>
            </a:r>
            <a:r>
              <a:rPr lang="ja-JP">
                <a:ea typeface="游ゴシック"/>
              </a:rPr>
              <a:t>誰かが変更を加えた際に他のメンバーが変更を読み込むことでエラーが発生しないよう</a:t>
            </a:r>
            <a:r>
              <a:rPr lang="ja-JP" altLang="en-US">
                <a:ea typeface="游ゴシック"/>
              </a:rPr>
              <a:t>声がけすることを習慣づけた</a:t>
            </a:r>
          </a:p>
        </p:txBody>
      </p:sp>
    </p:spTree>
    <p:extLst>
      <p:ext uri="{BB962C8B-B14F-4D97-AF65-F5344CB8AC3E}">
        <p14:creationId xmlns:p14="http://schemas.microsoft.com/office/powerpoint/2010/main" val="2305330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1928B0-182B-E6EE-439A-357D27E24EB7}"/>
              </a:ext>
            </a:extLst>
          </p:cNvPr>
          <p:cNvSpPr>
            <a:spLocks noGrp="1"/>
          </p:cNvSpPr>
          <p:nvPr>
            <p:ph type="title"/>
          </p:nvPr>
        </p:nvSpPr>
        <p:spPr/>
        <p:txBody>
          <a:bodyPr/>
          <a:lstStyle/>
          <a:p>
            <a:r>
              <a:rPr lang="ja-JP" altLang="en-US">
                <a:ea typeface="游ゴシック Light"/>
              </a:rPr>
              <a:t>ウェブページのQRコード</a:t>
            </a:r>
          </a:p>
        </p:txBody>
      </p:sp>
      <p:pic>
        <p:nvPicPr>
          <p:cNvPr id="7" name="コンテンツ プレースホルダー 6">
            <a:extLst>
              <a:ext uri="{FF2B5EF4-FFF2-40B4-BE49-F238E27FC236}">
                <a16:creationId xmlns:a16="http://schemas.microsoft.com/office/drawing/2014/main" id="{755398D0-5FF7-F88B-F71F-09054BFDEC02}"/>
              </a:ext>
            </a:extLst>
          </p:cNvPr>
          <p:cNvPicPr>
            <a:picLocks noGrp="1" noChangeAspect="1"/>
          </p:cNvPicPr>
          <p:nvPr>
            <p:ph idx="1"/>
          </p:nvPr>
        </p:nvPicPr>
        <p:blipFill>
          <a:blip r:embed="rId2"/>
          <a:stretch>
            <a:fillRect/>
          </a:stretch>
        </p:blipFill>
        <p:spPr>
          <a:xfrm>
            <a:off x="4038600" y="1943894"/>
            <a:ext cx="4114800" cy="4114800"/>
          </a:xfrm>
          <a:prstGeom prst="rect">
            <a:avLst/>
          </a:prstGeom>
        </p:spPr>
      </p:pic>
    </p:spTree>
    <p:extLst>
      <p:ext uri="{BB962C8B-B14F-4D97-AF65-F5344CB8AC3E}">
        <p14:creationId xmlns:p14="http://schemas.microsoft.com/office/powerpoint/2010/main" val="1444598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CB970B-6F98-616B-936E-7C01A27A384D}"/>
              </a:ext>
            </a:extLst>
          </p:cNvPr>
          <p:cNvSpPr>
            <a:spLocks noGrp="1"/>
          </p:cNvSpPr>
          <p:nvPr>
            <p:ph type="title"/>
          </p:nvPr>
        </p:nvSpPr>
        <p:spPr/>
        <p:txBody>
          <a:bodyPr/>
          <a:lstStyle/>
          <a:p>
            <a:r>
              <a:rPr lang="ja-JP" altLang="en-US">
                <a:ea typeface="游ゴシック Light"/>
              </a:rPr>
              <a:t>7. まとめと今後の展望</a:t>
            </a:r>
            <a:endParaRPr kumimoji="1" lang="ja-JP" altLang="en-US"/>
          </a:p>
        </p:txBody>
      </p:sp>
      <p:sp>
        <p:nvSpPr>
          <p:cNvPr id="3" name="コンテンツ プレースホルダー 2">
            <a:extLst>
              <a:ext uri="{FF2B5EF4-FFF2-40B4-BE49-F238E27FC236}">
                <a16:creationId xmlns:a16="http://schemas.microsoft.com/office/drawing/2014/main" id="{A4AD68C7-C678-F0DB-FA85-14F0B6BB2F3C}"/>
              </a:ext>
            </a:extLst>
          </p:cNvPr>
          <p:cNvSpPr>
            <a:spLocks noGrp="1"/>
          </p:cNvSpPr>
          <p:nvPr>
            <p:ph idx="1"/>
          </p:nvPr>
        </p:nvSpPr>
        <p:spPr>
          <a:xfrm>
            <a:off x="488950" y="1825625"/>
            <a:ext cx="10864850" cy="4351338"/>
          </a:xfrm>
        </p:spPr>
        <p:txBody>
          <a:bodyPr vert="horz" lIns="91440" tIns="45720" rIns="91440" bIns="45720" rtlCol="0" anchor="t">
            <a:normAutofit/>
          </a:bodyPr>
          <a:lstStyle/>
          <a:p>
            <a:pPr marL="0" indent="0">
              <a:buNone/>
            </a:pPr>
            <a:r>
              <a:rPr lang="ja-JP" altLang="en-US" sz="3600">
                <a:ea typeface="游ゴシック"/>
              </a:rPr>
              <a:t>まとめ</a:t>
            </a:r>
            <a:endParaRPr lang="ja-JP">
              <a:ea typeface="游ゴシック" panose="020B0400000000000000" pitchFamily="34" charset="-128"/>
            </a:endParaRPr>
          </a:p>
          <a:p>
            <a:pPr marL="0" indent="0">
              <a:buNone/>
            </a:pPr>
            <a:r>
              <a:rPr lang="ja-JP" altLang="en-US">
                <a:ea typeface="游ゴシック"/>
              </a:rPr>
              <a:t>HTMLでウェブページを構造を作り、CSSでデザインを調整、Java scriptで操作やデータの表示。</a:t>
            </a:r>
          </a:p>
          <a:p>
            <a:pPr marL="0" indent="0">
              <a:buNone/>
            </a:pPr>
            <a:r>
              <a:rPr lang="ja-JP" altLang="en-US">
                <a:ea typeface="游ゴシック"/>
              </a:rPr>
              <a:t>スマホに内蔵されている加速度センサーを使って、歩数計を作成。</a:t>
            </a:r>
          </a:p>
          <a:p>
            <a:pPr marL="0" indent="0">
              <a:buNone/>
            </a:pPr>
            <a:r>
              <a:rPr lang="ja-JP" altLang="en-US">
                <a:ea typeface="游ゴシック"/>
              </a:rPr>
              <a:t>Java scriptとCSSでミッションを達成したときの演出を作成。</a:t>
            </a:r>
          </a:p>
        </p:txBody>
      </p:sp>
    </p:spTree>
    <p:extLst>
      <p:ext uri="{BB962C8B-B14F-4D97-AF65-F5344CB8AC3E}">
        <p14:creationId xmlns:p14="http://schemas.microsoft.com/office/powerpoint/2010/main" val="2342558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A851A6-57AE-B11C-9057-0446EB4DA495}"/>
              </a:ext>
            </a:extLst>
          </p:cNvPr>
          <p:cNvSpPr>
            <a:spLocks noGrp="1"/>
          </p:cNvSpPr>
          <p:nvPr>
            <p:ph type="title"/>
          </p:nvPr>
        </p:nvSpPr>
        <p:spPr/>
        <p:txBody>
          <a:bodyPr/>
          <a:lstStyle/>
          <a:p>
            <a:r>
              <a:rPr lang="ja-JP">
                <a:ea typeface="游ゴシック Light"/>
              </a:rPr>
              <a:t>7. まとめと今後の展望</a:t>
            </a:r>
            <a:endParaRPr lang="ja-JP"/>
          </a:p>
        </p:txBody>
      </p:sp>
      <p:sp>
        <p:nvSpPr>
          <p:cNvPr id="3" name="コンテンツ プレースホルダー 2">
            <a:extLst>
              <a:ext uri="{FF2B5EF4-FFF2-40B4-BE49-F238E27FC236}">
                <a16:creationId xmlns:a16="http://schemas.microsoft.com/office/drawing/2014/main" id="{3ADA9B20-E506-7FE0-0B3A-64571B61DC77}"/>
              </a:ext>
            </a:extLst>
          </p:cNvPr>
          <p:cNvSpPr>
            <a:spLocks noGrp="1"/>
          </p:cNvSpPr>
          <p:nvPr>
            <p:ph idx="1"/>
          </p:nvPr>
        </p:nvSpPr>
        <p:spPr/>
        <p:txBody>
          <a:bodyPr vert="horz" lIns="91440" tIns="45720" rIns="91440" bIns="45720" rtlCol="0" anchor="t">
            <a:normAutofit/>
          </a:bodyPr>
          <a:lstStyle/>
          <a:p>
            <a:r>
              <a:rPr lang="ja-JP" altLang="en-US">
                <a:ea typeface="游ゴシック"/>
              </a:rPr>
              <a:t>今後の展望</a:t>
            </a:r>
          </a:p>
          <a:p>
            <a:pPr marL="0" indent="0">
              <a:buNone/>
            </a:pPr>
            <a:r>
              <a:rPr lang="ja-JP" altLang="en-US">
                <a:ea typeface="游ゴシック"/>
              </a:rPr>
              <a:t>シークレットクエストの実装は行えたが、特殊演出が</a:t>
            </a:r>
          </a:p>
          <a:p>
            <a:pPr marL="0" indent="0">
              <a:buNone/>
            </a:pPr>
            <a:r>
              <a:rPr lang="ja-JP" altLang="en-US">
                <a:ea typeface="游ゴシック"/>
              </a:rPr>
              <a:t>当初目標としていたスコアとランキング機能の実装、時間内に歩くなどのクエストの実装、今回は子供向けに作成したが、大人も利用したいと思えるようなウェブページを作成する際には、歩く以外のジャンプの回数、運動に対するカロリーの計算などの実装を行いたいと思う。</a:t>
            </a:r>
            <a:endParaRPr lang="ja-JP"/>
          </a:p>
        </p:txBody>
      </p:sp>
    </p:spTree>
    <p:extLst>
      <p:ext uri="{BB962C8B-B14F-4D97-AF65-F5344CB8AC3E}">
        <p14:creationId xmlns:p14="http://schemas.microsoft.com/office/powerpoint/2010/main" val="95983455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481</Words>
  <Application>Microsoft Office PowerPoint</Application>
  <PresentationFormat>ワイド画面</PresentationFormat>
  <Paragraphs>33</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游ゴシック</vt:lpstr>
      <vt:lpstr>游ゴシック Light</vt:lpstr>
      <vt:lpstr>Arial</vt:lpstr>
      <vt:lpstr>Roboto</vt:lpstr>
      <vt:lpstr>Office テーマ</vt:lpstr>
      <vt:lpstr>c班最終報告</vt:lpstr>
      <vt:lpstr>1．班全体の目標</vt:lpstr>
      <vt:lpstr>2, 3 目標達成に向けての班での計画と実際の推移</vt:lpstr>
      <vt:lpstr>PowerPoint プレゼンテーション</vt:lpstr>
      <vt:lpstr>6．作成物の説明</vt:lpstr>
      <vt:lpstr>4．共同作業について</vt:lpstr>
      <vt:lpstr>ウェブページのQRコード</vt:lpstr>
      <vt:lpstr>7. まとめと今後の展望</vt:lpstr>
      <vt:lpstr>7. まとめと今後の展望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和哉 中川</dc:creator>
  <cp:lastModifiedBy>和哉 中川</cp:lastModifiedBy>
  <cp:revision>3</cp:revision>
  <dcterms:created xsi:type="dcterms:W3CDTF">2025-11-26T05:34:07Z</dcterms:created>
  <dcterms:modified xsi:type="dcterms:W3CDTF">2025-11-26T07:00:15Z</dcterms:modified>
</cp:coreProperties>
</file>